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Ops.</c:v>
                </c:pt>
                <c:pt idx="1">
                  <c:v>IT</c:v>
                </c:pt>
                <c:pt idx="2">
                  <c:v>Proc.</c:v>
                </c:pt>
                <c:pt idx="3">
                  <c:v>Mktg.</c:v>
                </c:pt>
                <c:pt idx="4">
                  <c:v>HR</c:v>
                </c:pt>
                <c:pt idx="5">
                  <c:v>Int.Aud.</c:v>
                </c:pt>
                <c:pt idx="6">
                  <c:v>Legal</c:v>
                </c:pt>
                <c:pt idx="7">
                  <c:v>Fin.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69.5</c:v>
                </c:pt>
                <c:pt idx="1">
                  <c:v>71.2</c:v>
                </c:pt>
                <c:pt idx="2">
                  <c:v>73.5</c:v>
                </c:pt>
                <c:pt idx="3">
                  <c:v>77.599999999999994</c:v>
                </c:pt>
                <c:pt idx="4">
                  <c:v>78.3</c:v>
                </c:pt>
                <c:pt idx="5">
                  <c:v>80.599999999999994</c:v>
                </c:pt>
                <c:pt idx="6">
                  <c:v>81.2</c:v>
                </c:pt>
                <c:pt idx="7">
                  <c:v>81.400000000000006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D-2545-B910-CDA219448A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875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74320"/>
            <a:ext cx="3383280" cy="3383280"/>
          </a:xfrm>
          <a:prstGeom prst="ellipse">
            <a:avLst/>
          </a:prstGeom>
          <a:solidFill>
            <a:srgbClr val="0E1F33">
              <a:alpha val="0"/>
            </a:srgbClr>
          </a:solidFill>
          <a:ln w="1778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098280" y="228600"/>
            <a:ext cx="2377440" cy="2377440"/>
          </a:xfrm>
          <a:prstGeom prst="ellipse">
            <a:avLst/>
          </a:prstGeom>
          <a:solidFill>
            <a:srgbClr val="0E1F33">
              <a:alpha val="0"/>
            </a:srgbClr>
          </a:solidFill>
          <a:ln w="17780">
            <a:solidFill>
              <a:srgbClr val="14B8A6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55480" y="685800"/>
            <a:ext cx="1463040" cy="1463040"/>
          </a:xfrm>
          <a:prstGeom prst="ellipse">
            <a:avLst/>
          </a:prstGeom>
          <a:solidFill>
            <a:srgbClr val="0E1F33">
              <a:alpha val="0"/>
            </a:srgbClr>
          </a:solidFill>
          <a:ln w="17780">
            <a:solidFill>
              <a:srgbClr val="14B8A6">
                <a:alpha val="8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140696" y="1271016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PROYEK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Auditor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Kuis IT Audit dengan ReAct Agent + Retrieval-Augmented Generation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5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r>
              <a:rPr lang="en-US" sz="15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sqlite-vec</a:t>
            </a:r>
            <a:r>
              <a:rPr lang="en-US" sz="15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Node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pengetahuan: 3 dokumen POJK · 452 chunk · embedding Gemini 3072-dim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Isi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32688" y="216712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2167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38528" y="2240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Proyek &amp; Dataset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38528" y="27157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dipecahkan + dua sumber 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7648" y="178308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93408" y="216712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93408" y="2167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99248" y="22402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&amp; ReAct Agent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99248" y="271576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Autentikasi, komponen sistem, dan alur kerja per-soal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9319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2688" y="431596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2688" y="4315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38528" y="4389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Cuplikan Kode &amp; Hasil Analisis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38528" y="486460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kunci, kalibrasi, dan analitik gap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7648" y="39319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693408" y="431596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93408" y="4315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99248" y="43891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Insight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99248" y="486460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teknis dan domain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Proyek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data hasil kuis IT Audit menjadi keputusan yang dapat ditindaklanjuti dengan bantuan LLM.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02082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gap pengetahuan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34086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gap (rata-rata &lt; 70) dibakukan ke VIEW SQLite — per karyawan / divisi / topik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berbasis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menyusun analisis + prioritas + penilaian risiko yang actionable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55701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bahasa-natural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8770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natural → SQL SELECT read-only (validasi + auto-repair)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6168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361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32511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Kuis perbaikan yang grounded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6451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 ReAct + RAG menyusun soal berbasis materi regulasi (POJK)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29784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09320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persetujuan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4132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/ Auditor → kirim rekomendasi → Direktur acknowledge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1920240"/>
            <a:ext cx="3502152" cy="4069080"/>
          </a:xfrm>
          <a:prstGeom prst="roundRect">
            <a:avLst>
              <a:gd name="adj" fmla="val 2350"/>
            </a:avLst>
          </a:prstGeom>
          <a:solidFill>
            <a:srgbClr val="0E1F33"/>
          </a:solidFill>
          <a:ln w="12700">
            <a:solidFill>
              <a:srgbClr val="1B3A5B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58200" y="2240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Inti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257860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Zero-dependency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8458200" y="320040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aplikasi hanya memakai modul bawaan Node — tanpa framework, ORM, atau bundler: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58200" y="4160520"/>
            <a:ext cx="2862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node:http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node:sqlite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node:zlib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Kuis (Analitik)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6968" y="22311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· lib/db.js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32688" y="3246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38728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38728" y="3246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32688" y="4297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audit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38728" y="3749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3538728" y="42976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kuis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5212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76,6 / 100   ·   Ambang gap &lt; 70   ·   Des 2025 → Jun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55448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E9F7F3"/>
          </a:solidFill>
          <a:ln w="12700">
            <a:solidFill>
              <a:srgbClr val="CDEBE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9672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 Pengetahuan RAG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22311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gemini-embedding-001 · sqlite-vec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65392" y="2697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6565392" y="3246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POJK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11312" y="2697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8211312" y="3246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57232" y="2697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3072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857232" y="3246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65392" y="4023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POJK 11-03-2022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353 chunk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pojk 13-2020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34 chunk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pojk 4-2021</a:t>
            </a:r>
            <a:r>
              <a:rPr lang="en-US" sz="1300" dirty="0">
                <a:solidFill>
                  <a:srgbClr val="D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65 chunk (impor sebagian)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65392" y="5440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parser hierarki hukum (BAB → Pasal → Seksi → Poin → Sub-poin).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Sistem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28600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273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 · UI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3264408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11880" y="27432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3273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· routing · sesi &amp; peran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86600" y="1627632"/>
            <a:ext cx="4526280" cy="786384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23760" y="162763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lib/auth.js  →  sesi + peran (RBAC)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2523744"/>
            <a:ext cx="4526280" cy="786384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23760" y="2523744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lib/db.js  →  SQLite + VIEW analitik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3419856"/>
            <a:ext cx="4526280" cy="786384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23760" y="341985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lib/groq.js  →  Groq API (LLM · ReAct)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86600" y="4315968"/>
            <a:ext cx="4526280" cy="786384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223760" y="431596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lib/vec.js  →  sqlite-vec (KNN)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86600" y="5212080"/>
            <a:ext cx="4526280" cy="786384"/>
          </a:xfrm>
          <a:prstGeom prst="roundRect">
            <a:avLst>
              <a:gd name="adj" fmla="val 8824"/>
            </a:avLst>
          </a:prstGeom>
          <a:solidFill>
            <a:srgbClr val="E9F7F3"/>
          </a:solidFill>
          <a:ln w="12700">
            <a:solidFill>
              <a:srgbClr val="E9F7F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223760" y="521208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lib/embedder.js  →  Gemini API (3072-dim)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82512" y="3154680"/>
            <a:ext cx="676656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82512" y="3264408"/>
            <a:ext cx="676656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82512" y="3383280"/>
            <a:ext cx="676656" cy="96012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26880" y="5102352"/>
            <a:ext cx="0" cy="109728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 zero-dependency: hanya modul bawaan Node + fetch. RAG = Gemini (network) + sqlite-vec; fallback cosine murni-JS bila ekstensi tak termuat.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ReAct Agent (per-soal)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Reasoning + Acting. Agen menalar materi yang dibutuhkan, lalu memanggil tool search_knowledge sebelum menyusun soal.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9536" y="2304288"/>
            <a:ext cx="713232" cy="713232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992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planQuizSubtopics()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Menalar n sub-konsep berbeda + 1 query pencarian per soal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0156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94176" y="2304288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9417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456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9417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search_knowledge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9417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sqlite-vec (KNN) TERPISAH untuk tiap sub-konsep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760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620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28816" y="2304288"/>
            <a:ext cx="713232" cy="713232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2881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920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2881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groundedGenerate…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2881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Tepat 1 soal per blok materi; field block memetakan soal↔sumber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4224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7084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363456" y="2304288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36345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1384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6345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questions[ ]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6345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soal membawa grounded · source · similarity · excerpt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480060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CEDEC"/>
          </a:solidFill>
          <a:ln w="12700">
            <a:solidFill>
              <a:srgbClr val="F2D6D2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1248" y="4956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+ tandai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52852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similarity &lt; GROUND_MIN (0,63), soal tetap dibuat dari pengetahuan umum dan ditandai “pengetahuan umum”.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53912" y="4800600"/>
            <a:ext cx="5477256" cy="1143000"/>
          </a:xfrm>
          <a:prstGeom prst="roundRect">
            <a:avLst>
              <a:gd name="adj" fmla="val 7200"/>
            </a:avLst>
          </a:prstGeom>
          <a:solidFill>
            <a:srgbClr val="E9F7F3"/>
          </a:solidFill>
          <a:ln w="12700">
            <a:solidFill>
              <a:srgbClr val="CDEBE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28232" y="495604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Plan → Act → Generate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28232" y="5285232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final terfokus (1 soal/blok) → JSON soal andal &amp; jejak ReAct dapat diaudit.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Cuplikan Kode Penting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grounding — lib/groq.js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49240" cy="4114800"/>
          </a:xfrm>
          <a:prstGeom prst="roundRect">
            <a:avLst>
              <a:gd name="adj" fmla="val 1333"/>
            </a:avLst>
          </a:prstGeom>
          <a:solidFill>
            <a:srgbClr val="0E1F33"/>
          </a:solidFill>
          <a:ln w="12700">
            <a:solidFill>
              <a:srgbClr val="1B3A5B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29968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Embedding Gemini memampatkan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similarity ke pita ~0,60–0,70 →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ambang DI ATAS lantai-noise.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GROUND_MIN =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Number(process.env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.QUIZ_GROUND_MIN) || 0.63;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grounded vs “pengetahuan umum”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grounded =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 &amp;&amp; top.similarity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&gt;= GROUND_MIN;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72784" y="148132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per-soal — lib/groq.js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2784" y="1828800"/>
            <a:ext cx="5358384" cy="4114800"/>
          </a:xfrm>
          <a:prstGeom prst="roundRect">
            <a:avLst>
              <a:gd name="adj" fmla="val 1333"/>
            </a:avLst>
          </a:prstGeom>
          <a:solidFill>
            <a:srgbClr val="0E1F33"/>
          </a:solidFill>
          <a:ln w="12700">
            <a:solidFill>
              <a:srgbClr val="1B3A5B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28816" y="2029968"/>
            <a:ext cx="4901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satu pencarian untuk SETIAP soal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s of subs) 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search(s.query); // KNN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top = r[0];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items.push({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subconcept: s.subconcept,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grounded,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source: grounded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top.source : null,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excerpt: top?.content,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Analisis — Kalibrasi &amp; ReAct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86968" y="1856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Kalibrasi Ambang Similarity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 —  “resep rendang”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32688" y="2779776"/>
            <a:ext cx="3886200" cy="310896"/>
          </a:xfrm>
          <a:prstGeom prst="roundRect">
            <a:avLst>
              <a:gd name="adj" fmla="val 11765"/>
            </a:avLst>
          </a:prstGeom>
          <a:solidFill>
            <a:srgbClr val="E7ECF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32688" y="2779776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D843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10328" y="2743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4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383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ON-topic  —  query relevan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3694176"/>
            <a:ext cx="3886200" cy="310896"/>
          </a:xfrm>
          <a:prstGeom prst="roundRect">
            <a:avLst>
              <a:gd name="adj" fmla="val 11765"/>
            </a:avLst>
          </a:prstGeom>
          <a:solidFill>
            <a:srgbClr val="E7ECF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32688" y="3694176"/>
            <a:ext cx="2642616" cy="31089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10328" y="3657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0,68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" y="4572000"/>
            <a:ext cx="4709160" cy="1005840"/>
          </a:xfrm>
          <a:prstGeom prst="roundRect">
            <a:avLst>
              <a:gd name="adj" fmla="val 6364"/>
            </a:avLst>
          </a:prstGeom>
          <a:solidFill>
            <a:srgbClr val="0E1F3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61288" y="4754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GROUND_MIN = 0,63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dipasang DI ATAS lantai-noise (~0,60); ambang naif 0,5 membuat penanda grounding selalu true.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9F7F3"/>
          </a:solidFill>
          <a:ln w="12700">
            <a:solidFill>
              <a:srgbClr val="CDEBE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9672" y="1856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Generate Kuis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65392" y="2468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30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6565392" y="3017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 grounded (3 topik)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17152" y="24688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217152" y="3017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trace ReAct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392" y="3794760"/>
          <a:ext cx="4709160" cy="146304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Sumber utama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&amp; IAM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pojk 4-2021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POJK 11-03-2022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POJK 11-03-2022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565392" y="5486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plan_subtopics → 12× search_knowledge → final_answer (dipangkas ke 10 soal).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Analisis — Analitik Gap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skor per divisi  (ambang gap = 70)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71323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76472" cy="1325880"/>
          </a:xfrm>
          <a:prstGeom prst="roundRect">
            <a:avLst>
              <a:gd name="adj" fmla="val 6207"/>
            </a:avLst>
          </a:prstGeom>
          <a:solidFill>
            <a:srgbClr val="FCEDEC"/>
          </a:solidFill>
          <a:ln w="12700">
            <a:solidFill>
              <a:srgbClr val="F2D6D2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38160" y="19385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4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418320" y="1993392"/>
            <a:ext cx="1993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satu-satunya divisi di bawah ambang gap (70).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3291840"/>
            <a:ext cx="3776472" cy="1325880"/>
          </a:xfrm>
          <a:prstGeom prst="roundRect">
            <a:avLst>
              <a:gd name="adj" fmla="val 620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138160" y="34015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individual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38160" y="370332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Joko Susilo (IT) — 9 topik ber-gap. Rata-rata divisi (71,2) menyembunyikan risiko ini.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4754880"/>
            <a:ext cx="3776472" cy="123444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CDEBE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138160" y="486460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bersifat granular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38160" y="5166360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ada topik gap di level global → wajib pakai VIEW divisi×topik.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Utama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86968" y="187452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8696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18488" y="1901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Teknis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26060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per-soal &gt; pooled: RAG memengaruhi tiap soal + atribusi sumber.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Kalibrasi ambang wajib — Gemini memampatkan similarity; 0,5 membuat penanda selalu true.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Generate menaikkan keandalan (JSON soal tak terpotong).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ReAct + kutipan sumber → keluaran LLM dapat diaudit.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19672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196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51192" y="1901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Domain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11112" y="26060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prioritas intervensi: gap menyeluruh (69,5) + gap divisi×topik terbanyak.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 atas ambang tapi memuat individu paling berisiko (9 topik) — rata-rata menyembunyikan risiko.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granular → gunakan VIEW, bukan rata-rata global.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ingesti: pojk 4-2021 sebagian (65/272) karena rate limit Gemini free-tier.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572000"/>
            <a:ext cx="2926080" cy="2926080"/>
          </a:xfrm>
          <a:prstGeom prst="ellipse">
            <a:avLst/>
          </a:prstGeom>
          <a:solidFill>
            <a:srgbClr val="0E1F33">
              <a:alpha val="0"/>
            </a:srgbClr>
          </a:solidFill>
          <a:ln w="1778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66960" y="5029200"/>
            <a:ext cx="2011680" cy="2011680"/>
          </a:xfrm>
          <a:prstGeom prst="ellipse">
            <a:avLst/>
          </a:prstGeom>
          <a:solidFill>
            <a:srgbClr val="0E1F33">
              <a:alpha val="0"/>
            </a:srgbClr>
          </a:solidFill>
          <a:ln w="1778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772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 ReAct + RAG per-soal menghasilkan kuis IT-audit yang grounded, dapat diaudit, dan terkalibrasi — di atas arsitektur zero-dependency yang mudah dipelihara.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Pembakuan logika gap ke VIEW SQLite memberi dasar konsisten untuk rekomendasi AI dan SQL Agent.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LANJUTAN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2766974" cy="457200"/>
          </a:xfrm>
          <a:prstGeom prst="roundRect">
            <a:avLst>
              <a:gd name="adj" fmla="val 50000"/>
            </a:avLst>
          </a:prstGeom>
          <a:solidFill>
            <a:srgbClr val="1B3A5B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4800600"/>
            <a:ext cx="2766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18534" y="4800600"/>
            <a:ext cx="2430475" cy="457200"/>
          </a:xfrm>
          <a:prstGeom prst="roundRect">
            <a:avLst>
              <a:gd name="adj" fmla="val 50000"/>
            </a:avLst>
          </a:prstGeom>
          <a:solidFill>
            <a:srgbClr val="1B3A5B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18534" y="4800600"/>
            <a:ext cx="2430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grounding adaptif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23330" y="4800600"/>
            <a:ext cx="1925726" cy="457200"/>
          </a:xfrm>
          <a:prstGeom prst="roundRect">
            <a:avLst>
              <a:gd name="adj" fmla="val 50000"/>
            </a:avLst>
          </a:prstGeom>
          <a:solidFill>
            <a:srgbClr val="1B3A5B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23330" y="480060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PDF hasil scan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23376" y="4800600"/>
            <a:ext cx="1841602" cy="457200"/>
          </a:xfrm>
          <a:prstGeom prst="roundRect">
            <a:avLst>
              <a:gd name="adj" fmla="val 50000"/>
            </a:avLst>
          </a:prstGeom>
          <a:solidFill>
            <a:srgbClr val="1B3A5B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723376" y="4800600"/>
            <a:ext cx="18416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auth: cookie Secure, 2FA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 ·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Autentikasi &amp; Kontrol Akses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sungguhan menggantikan pemilih peran. Peran dibaca dari sesi di sisi server — bukan dari input klien.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9536" y="2304288"/>
            <a:ext cx="713232" cy="713232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0992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baru selalu berperan Peserta Audit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0156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94176" y="2304288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9417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4456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PERIKSA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9417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scrypt + salt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9417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bersalt per akun, perbandingan timing-safe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760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620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28816" y="2304288"/>
            <a:ext cx="713232" cy="713232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2881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920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2881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sessions(token_hash)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2881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acak 32 byte disimpan ter-hash; cookie HttpOnly 7 hari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42248" y="3177540"/>
            <a:ext cx="210312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70848" y="2011680"/>
            <a:ext cx="2587752" cy="2331720"/>
          </a:xfrm>
          <a:prstGeom prst="roundRect">
            <a:avLst>
              <a:gd name="adj" fmla="val 3529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363456" y="2304288"/>
            <a:ext cx="713232" cy="71323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363456" y="23042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13848" y="2395728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OTORISASI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63456" y="318211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currentUser(req)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63456" y="358444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dari akun: 401 tanpa sesi, 403 bila tak sesuai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4800600"/>
            <a:ext cx="5486400" cy="1143000"/>
          </a:xfrm>
          <a:prstGeom prst="roundRect">
            <a:avLst>
              <a:gd name="adj" fmla="val 7200"/>
            </a:avLst>
          </a:prstGeom>
          <a:solidFill>
            <a:srgbClr val="FCEDEC"/>
          </a:solidFill>
          <a:ln w="12700">
            <a:solidFill>
              <a:srgbClr val="F2D6D2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1248" y="4956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tak bisa disamarkan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52852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 diambil dari sesi; kepemilikan sesi kuis diverifikasi — skor hanya bisa ditulis atas nama sendiri.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53912" y="4800600"/>
            <a:ext cx="5477256" cy="1143000"/>
          </a:xfrm>
          <a:prstGeom prst="roundRect">
            <a:avLst>
              <a:gd name="adj" fmla="val 7200"/>
            </a:avLst>
          </a:prstGeom>
          <a:solidFill>
            <a:srgbClr val="E9F7F3"/>
          </a:solidFill>
          <a:ln w="12700">
            <a:solidFill>
              <a:srgbClr val="CDEBE3"/>
            </a:solidFill>
            <a:prstDash val="solid"/>
          </a:ln>
          <a:effectLst>
            <a:outerShdw blurRad="114300" dist="38100" dir="5400000" algn="bl" rotWithShape="0">
              <a:srgbClr val="0E1F33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28232" y="4956048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pengungkapan peran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28232" y="5285232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Masuk tidak menampilkan struktur peran. Kenaikan peran oleh Super Admin; nonaktif = sesi dicabut.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Auditor · Dokumentasi Proyek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07040" y="64190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1123</Words>
  <Application>Microsoft Macintosh PowerPoint</Application>
  <PresentationFormat>Widescreen</PresentationFormat>
  <Paragraphs>220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Dokumentasi Proyek — LLM Auditor</dc:title>
  <dc:subject>PptxGenJS Presentation</dc:subject>
  <dc:creator>LLM Auditor</dc:creator>
  <cp:lastModifiedBy>Dannies Pahlevi</cp:lastModifiedBy>
  <cp:revision>2</cp:revision>
  <dcterms:created xsi:type="dcterms:W3CDTF">2026-06-30T21:40:21Z</dcterms:created>
  <dcterms:modified xsi:type="dcterms:W3CDTF">2026-06-30T21:51:20Z</dcterms:modified>
</cp:coreProperties>
</file>